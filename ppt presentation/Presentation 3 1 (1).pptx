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57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ABF0FA-B009-925C-083B-E07C2792B1CD}" v="351" dt="2025-01-26T12:56:18.818"/>
    <p1510:client id="{4AEF54CC-528E-45CD-8B31-569CF7CFE10C}" v="165" dt="2025-01-25T05:39:15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C0B095-383A-4DB9-88EF-5EC60216E4A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053C43-F7F9-4A62-B238-D782A97909B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Frontend</a:t>
          </a:r>
          <a:r>
            <a:rPr lang="en-US"/>
            <a:t>: Vite, React, TypeScript</a:t>
          </a:r>
        </a:p>
      </dgm:t>
    </dgm:pt>
    <dgm:pt modelId="{645DA96C-2244-401D-8C52-2AB07DC802A2}" type="parTrans" cxnId="{B617BEEE-896D-4566-ADBE-F9702A61CC1E}">
      <dgm:prSet/>
      <dgm:spPr/>
      <dgm:t>
        <a:bodyPr/>
        <a:lstStyle/>
        <a:p>
          <a:endParaRPr lang="en-US"/>
        </a:p>
      </dgm:t>
    </dgm:pt>
    <dgm:pt modelId="{3087A210-DB0B-4489-A1DF-AF9008E3D740}" type="sibTrans" cxnId="{B617BEEE-896D-4566-ADBE-F9702A61CC1E}">
      <dgm:prSet/>
      <dgm:spPr/>
      <dgm:t>
        <a:bodyPr/>
        <a:lstStyle/>
        <a:p>
          <a:endParaRPr lang="en-US"/>
        </a:p>
      </dgm:t>
    </dgm:pt>
    <dgm:pt modelId="{76219717-8D3F-4034-89D6-4976ACE99C6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Backend</a:t>
          </a:r>
          <a:r>
            <a:rPr lang="en-US"/>
            <a:t>: APIs, LLM integration</a:t>
          </a:r>
        </a:p>
      </dgm:t>
    </dgm:pt>
    <dgm:pt modelId="{12499389-C85E-453E-B0AA-01E16EF353E3}" type="parTrans" cxnId="{CCF414D3-7431-4E0F-8087-ED6CCC481C62}">
      <dgm:prSet/>
      <dgm:spPr/>
      <dgm:t>
        <a:bodyPr/>
        <a:lstStyle/>
        <a:p>
          <a:endParaRPr lang="en-US"/>
        </a:p>
      </dgm:t>
    </dgm:pt>
    <dgm:pt modelId="{7523C15A-F55B-4DF0-BD03-F1E3F162DA48}" type="sibTrans" cxnId="{CCF414D3-7431-4E0F-8087-ED6CCC481C62}">
      <dgm:prSet/>
      <dgm:spPr/>
      <dgm:t>
        <a:bodyPr/>
        <a:lstStyle/>
        <a:p>
          <a:endParaRPr lang="en-US"/>
        </a:p>
      </dgm:t>
    </dgm:pt>
    <dgm:pt modelId="{7F5166EE-141F-438B-9FCD-32164BB25C9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AI/ML</a:t>
          </a:r>
          <a:r>
            <a:rPr lang="en-US"/>
            <a:t>: Advanced AI models for crop analysis</a:t>
          </a:r>
        </a:p>
      </dgm:t>
    </dgm:pt>
    <dgm:pt modelId="{60A8F868-B4DF-4969-91BF-B52CA7AE8B67}" type="parTrans" cxnId="{F5A6DC0D-C59E-4B0B-BDE2-5DE8AE69944B}">
      <dgm:prSet/>
      <dgm:spPr/>
      <dgm:t>
        <a:bodyPr/>
        <a:lstStyle/>
        <a:p>
          <a:endParaRPr lang="en-US"/>
        </a:p>
      </dgm:t>
    </dgm:pt>
    <dgm:pt modelId="{CC98C2BF-0172-4D86-A2CD-0357DC7D6A98}" type="sibTrans" cxnId="{F5A6DC0D-C59E-4B0B-BDE2-5DE8AE69944B}">
      <dgm:prSet/>
      <dgm:spPr/>
      <dgm:t>
        <a:bodyPr/>
        <a:lstStyle/>
        <a:p>
          <a:endParaRPr lang="en-US"/>
        </a:p>
      </dgm:t>
    </dgm:pt>
    <dgm:pt modelId="{B71258D6-5791-45F2-9C5A-D419F934080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User Interaction</a:t>
          </a:r>
          <a:r>
            <a:rPr lang="en-US"/>
            <a:t>: Voice assistant, chatbot</a:t>
          </a:r>
        </a:p>
      </dgm:t>
    </dgm:pt>
    <dgm:pt modelId="{BCD42660-DCBE-4668-9948-0856149165B6}" type="parTrans" cxnId="{E3471DA8-3ADB-4E5E-B665-9CCCE0F7992E}">
      <dgm:prSet/>
      <dgm:spPr/>
      <dgm:t>
        <a:bodyPr/>
        <a:lstStyle/>
        <a:p>
          <a:endParaRPr lang="en-US"/>
        </a:p>
      </dgm:t>
    </dgm:pt>
    <dgm:pt modelId="{AB21F873-0002-4D76-836A-A30A503D8893}" type="sibTrans" cxnId="{E3471DA8-3ADB-4E5E-B665-9CCCE0F7992E}">
      <dgm:prSet/>
      <dgm:spPr/>
      <dgm:t>
        <a:bodyPr/>
        <a:lstStyle/>
        <a:p>
          <a:endParaRPr lang="en-US"/>
        </a:p>
      </dgm:t>
    </dgm:pt>
    <dgm:pt modelId="{43E75CE4-26FD-4B4D-AD3C-64C59339C77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Data Handling</a:t>
          </a:r>
          <a:r>
            <a:rPr lang="en-US"/>
            <a:t>: Real-time data integration for insights</a:t>
          </a:r>
        </a:p>
      </dgm:t>
    </dgm:pt>
    <dgm:pt modelId="{A61D73F4-1054-4AAE-9371-025ED8CE7093}" type="parTrans" cxnId="{9B4B80D8-A69D-43EA-B5BE-8AB7015304F5}">
      <dgm:prSet/>
      <dgm:spPr/>
      <dgm:t>
        <a:bodyPr/>
        <a:lstStyle/>
        <a:p>
          <a:endParaRPr lang="en-US"/>
        </a:p>
      </dgm:t>
    </dgm:pt>
    <dgm:pt modelId="{85BFC850-9D09-497B-981D-7AB597BD0B50}" type="sibTrans" cxnId="{9B4B80D8-A69D-43EA-B5BE-8AB7015304F5}">
      <dgm:prSet/>
      <dgm:spPr/>
      <dgm:t>
        <a:bodyPr/>
        <a:lstStyle/>
        <a:p>
          <a:endParaRPr lang="en-US"/>
        </a:p>
      </dgm:t>
    </dgm:pt>
    <dgm:pt modelId="{87B57B19-49F6-44B1-8686-F90A9564EF9A}" type="pres">
      <dgm:prSet presAssocID="{ACC0B095-383A-4DB9-88EF-5EC60216E4AE}" presName="root" presStyleCnt="0">
        <dgm:presLayoutVars>
          <dgm:dir/>
          <dgm:resizeHandles val="exact"/>
        </dgm:presLayoutVars>
      </dgm:prSet>
      <dgm:spPr/>
    </dgm:pt>
    <dgm:pt modelId="{13BF95F8-B2AC-4106-A035-A8A12A1CD86C}" type="pres">
      <dgm:prSet presAssocID="{EE053C43-F7F9-4A62-B238-D782A97909B0}" presName="compNode" presStyleCnt="0"/>
      <dgm:spPr/>
    </dgm:pt>
    <dgm:pt modelId="{F36C116B-70FB-40AD-93A2-957852081AD1}" type="pres">
      <dgm:prSet presAssocID="{EE053C43-F7F9-4A62-B238-D782A97909B0}" presName="iconBgRect" presStyleLbl="bgShp" presStyleIdx="0" presStyleCnt="5"/>
      <dgm:spPr/>
    </dgm:pt>
    <dgm:pt modelId="{13D006E9-FF18-4145-AA47-0C8B25871018}" type="pres">
      <dgm:prSet presAssocID="{EE053C43-F7F9-4A62-B238-D782A97909B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DC3EA022-A23F-4DF0-BCAD-CAE94FAC7380}" type="pres">
      <dgm:prSet presAssocID="{EE053C43-F7F9-4A62-B238-D782A97909B0}" presName="spaceRect" presStyleCnt="0"/>
      <dgm:spPr/>
    </dgm:pt>
    <dgm:pt modelId="{192D5350-DDD6-4B3E-92A2-CBB89606DF68}" type="pres">
      <dgm:prSet presAssocID="{EE053C43-F7F9-4A62-B238-D782A97909B0}" presName="textRect" presStyleLbl="revTx" presStyleIdx="0" presStyleCnt="5">
        <dgm:presLayoutVars>
          <dgm:chMax val="1"/>
          <dgm:chPref val="1"/>
        </dgm:presLayoutVars>
      </dgm:prSet>
      <dgm:spPr/>
    </dgm:pt>
    <dgm:pt modelId="{D5B9BBA8-F352-40A8-A993-1625BAEA5E76}" type="pres">
      <dgm:prSet presAssocID="{3087A210-DB0B-4489-A1DF-AF9008E3D740}" presName="sibTrans" presStyleCnt="0"/>
      <dgm:spPr/>
    </dgm:pt>
    <dgm:pt modelId="{991E4C53-2BB7-4345-90E0-B0259D8529BE}" type="pres">
      <dgm:prSet presAssocID="{76219717-8D3F-4034-89D6-4976ACE99C6E}" presName="compNode" presStyleCnt="0"/>
      <dgm:spPr/>
    </dgm:pt>
    <dgm:pt modelId="{FD2681AE-2AB2-4089-B874-0F806ADE02DC}" type="pres">
      <dgm:prSet presAssocID="{76219717-8D3F-4034-89D6-4976ACE99C6E}" presName="iconBgRect" presStyleLbl="bgShp" presStyleIdx="1" presStyleCnt="5"/>
      <dgm:spPr/>
    </dgm:pt>
    <dgm:pt modelId="{9B65E5D7-0A78-4537-A416-47957C9DB2D3}" type="pres">
      <dgm:prSet presAssocID="{76219717-8D3F-4034-89D6-4976ACE99C6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5337795-A296-449C-97EC-E8592B494B36}" type="pres">
      <dgm:prSet presAssocID="{76219717-8D3F-4034-89D6-4976ACE99C6E}" presName="spaceRect" presStyleCnt="0"/>
      <dgm:spPr/>
    </dgm:pt>
    <dgm:pt modelId="{774BDEC9-177A-47DE-8B37-A03EF8E5959C}" type="pres">
      <dgm:prSet presAssocID="{76219717-8D3F-4034-89D6-4976ACE99C6E}" presName="textRect" presStyleLbl="revTx" presStyleIdx="1" presStyleCnt="5">
        <dgm:presLayoutVars>
          <dgm:chMax val="1"/>
          <dgm:chPref val="1"/>
        </dgm:presLayoutVars>
      </dgm:prSet>
      <dgm:spPr/>
    </dgm:pt>
    <dgm:pt modelId="{08F8C480-9D03-4D9A-9213-6C34C21A817B}" type="pres">
      <dgm:prSet presAssocID="{7523C15A-F55B-4DF0-BD03-F1E3F162DA48}" presName="sibTrans" presStyleCnt="0"/>
      <dgm:spPr/>
    </dgm:pt>
    <dgm:pt modelId="{6DBE02F5-568A-426B-851C-C25CB1755002}" type="pres">
      <dgm:prSet presAssocID="{7F5166EE-141F-438B-9FCD-32164BB25C94}" presName="compNode" presStyleCnt="0"/>
      <dgm:spPr/>
    </dgm:pt>
    <dgm:pt modelId="{3B1CC29D-96FF-4CCD-A52B-E85C6FCEAA73}" type="pres">
      <dgm:prSet presAssocID="{7F5166EE-141F-438B-9FCD-32164BB25C94}" presName="iconBgRect" presStyleLbl="bgShp" presStyleIdx="2" presStyleCnt="5"/>
      <dgm:spPr/>
    </dgm:pt>
    <dgm:pt modelId="{53E82E18-C347-43AF-9BC9-498A56D924EB}" type="pres">
      <dgm:prSet presAssocID="{7F5166EE-141F-438B-9FCD-32164BB25C9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7795F23-C32C-40CF-816E-AAD6EC79AE9B}" type="pres">
      <dgm:prSet presAssocID="{7F5166EE-141F-438B-9FCD-32164BB25C94}" presName="spaceRect" presStyleCnt="0"/>
      <dgm:spPr/>
    </dgm:pt>
    <dgm:pt modelId="{5FCAEEAD-03FC-4A66-8A68-5FA395F35B5B}" type="pres">
      <dgm:prSet presAssocID="{7F5166EE-141F-438B-9FCD-32164BB25C94}" presName="textRect" presStyleLbl="revTx" presStyleIdx="2" presStyleCnt="5">
        <dgm:presLayoutVars>
          <dgm:chMax val="1"/>
          <dgm:chPref val="1"/>
        </dgm:presLayoutVars>
      </dgm:prSet>
      <dgm:spPr/>
    </dgm:pt>
    <dgm:pt modelId="{AD4B833F-6C8D-4FED-B297-A83A3DF88963}" type="pres">
      <dgm:prSet presAssocID="{CC98C2BF-0172-4D86-A2CD-0357DC7D6A98}" presName="sibTrans" presStyleCnt="0"/>
      <dgm:spPr/>
    </dgm:pt>
    <dgm:pt modelId="{AA2040C7-2372-4B45-B13C-6D5D0860F4CC}" type="pres">
      <dgm:prSet presAssocID="{B71258D6-5791-45F2-9C5A-D419F9340802}" presName="compNode" presStyleCnt="0"/>
      <dgm:spPr/>
    </dgm:pt>
    <dgm:pt modelId="{A1A74B2A-7D78-47F4-A16F-107571CEE964}" type="pres">
      <dgm:prSet presAssocID="{B71258D6-5791-45F2-9C5A-D419F9340802}" presName="iconBgRect" presStyleLbl="bgShp" presStyleIdx="3" presStyleCnt="5"/>
      <dgm:spPr/>
    </dgm:pt>
    <dgm:pt modelId="{89E9366D-727C-4CAD-BD7A-92646C9D6AE3}" type="pres">
      <dgm:prSet presAssocID="{B71258D6-5791-45F2-9C5A-D419F934080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102FD83B-C394-43B6-92A8-AA9E2EFB4891}" type="pres">
      <dgm:prSet presAssocID="{B71258D6-5791-45F2-9C5A-D419F9340802}" presName="spaceRect" presStyleCnt="0"/>
      <dgm:spPr/>
    </dgm:pt>
    <dgm:pt modelId="{0CEDD938-7BA6-4A6A-82C1-ED9D7C3AB7E8}" type="pres">
      <dgm:prSet presAssocID="{B71258D6-5791-45F2-9C5A-D419F9340802}" presName="textRect" presStyleLbl="revTx" presStyleIdx="3" presStyleCnt="5">
        <dgm:presLayoutVars>
          <dgm:chMax val="1"/>
          <dgm:chPref val="1"/>
        </dgm:presLayoutVars>
      </dgm:prSet>
      <dgm:spPr/>
    </dgm:pt>
    <dgm:pt modelId="{C17E2BAF-4DEE-485E-8356-EBA037DC28FC}" type="pres">
      <dgm:prSet presAssocID="{AB21F873-0002-4D76-836A-A30A503D8893}" presName="sibTrans" presStyleCnt="0"/>
      <dgm:spPr/>
    </dgm:pt>
    <dgm:pt modelId="{83E138F9-FEE7-41D8-8598-BD11880E554C}" type="pres">
      <dgm:prSet presAssocID="{43E75CE4-26FD-4B4D-AD3C-64C59339C772}" presName="compNode" presStyleCnt="0"/>
      <dgm:spPr/>
    </dgm:pt>
    <dgm:pt modelId="{D3886830-2F24-4C0C-AC46-22BF4F6DB2F6}" type="pres">
      <dgm:prSet presAssocID="{43E75CE4-26FD-4B4D-AD3C-64C59339C772}" presName="iconBgRect" presStyleLbl="bgShp" presStyleIdx="4" presStyleCnt="5"/>
      <dgm:spPr/>
    </dgm:pt>
    <dgm:pt modelId="{43600A5E-42B2-402D-BDCE-86AC5EB66BD6}" type="pres">
      <dgm:prSet presAssocID="{43E75CE4-26FD-4B4D-AD3C-64C59339C7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8E04F48-D7FF-470E-93AA-94D601D65BF1}" type="pres">
      <dgm:prSet presAssocID="{43E75CE4-26FD-4B4D-AD3C-64C59339C772}" presName="spaceRect" presStyleCnt="0"/>
      <dgm:spPr/>
    </dgm:pt>
    <dgm:pt modelId="{303D0C42-8D06-4B84-86EB-E7DC42B804C6}" type="pres">
      <dgm:prSet presAssocID="{43E75CE4-26FD-4B4D-AD3C-64C59339C77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5FF2309-F33E-437C-92F6-2E1B8A3D5FD9}" type="presOf" srcId="{76219717-8D3F-4034-89D6-4976ACE99C6E}" destId="{774BDEC9-177A-47DE-8B37-A03EF8E5959C}" srcOrd="0" destOrd="0" presId="urn:microsoft.com/office/officeart/2018/5/layout/IconCircleLabelList"/>
    <dgm:cxn modelId="{F5A6DC0D-C59E-4B0B-BDE2-5DE8AE69944B}" srcId="{ACC0B095-383A-4DB9-88EF-5EC60216E4AE}" destId="{7F5166EE-141F-438B-9FCD-32164BB25C94}" srcOrd="2" destOrd="0" parTransId="{60A8F868-B4DF-4969-91BF-B52CA7AE8B67}" sibTransId="{CC98C2BF-0172-4D86-A2CD-0357DC7D6A98}"/>
    <dgm:cxn modelId="{35809B26-1226-4428-9BA1-7BF41CDAD1EB}" type="presOf" srcId="{7F5166EE-141F-438B-9FCD-32164BB25C94}" destId="{5FCAEEAD-03FC-4A66-8A68-5FA395F35B5B}" srcOrd="0" destOrd="0" presId="urn:microsoft.com/office/officeart/2018/5/layout/IconCircleLabelList"/>
    <dgm:cxn modelId="{E802DE2D-C983-434E-B38D-8324CBF8F41E}" type="presOf" srcId="{B71258D6-5791-45F2-9C5A-D419F9340802}" destId="{0CEDD938-7BA6-4A6A-82C1-ED9D7C3AB7E8}" srcOrd="0" destOrd="0" presId="urn:microsoft.com/office/officeart/2018/5/layout/IconCircleLabelList"/>
    <dgm:cxn modelId="{C4FBF530-70CC-453D-93A9-CEA79353DF41}" type="presOf" srcId="{ACC0B095-383A-4DB9-88EF-5EC60216E4AE}" destId="{87B57B19-49F6-44B1-8686-F90A9564EF9A}" srcOrd="0" destOrd="0" presId="urn:microsoft.com/office/officeart/2018/5/layout/IconCircleLabelList"/>
    <dgm:cxn modelId="{4B8DE231-1257-4E8D-A805-C06828632DFC}" type="presOf" srcId="{43E75CE4-26FD-4B4D-AD3C-64C59339C772}" destId="{303D0C42-8D06-4B84-86EB-E7DC42B804C6}" srcOrd="0" destOrd="0" presId="urn:microsoft.com/office/officeart/2018/5/layout/IconCircleLabelList"/>
    <dgm:cxn modelId="{E3471DA8-3ADB-4E5E-B665-9CCCE0F7992E}" srcId="{ACC0B095-383A-4DB9-88EF-5EC60216E4AE}" destId="{B71258D6-5791-45F2-9C5A-D419F9340802}" srcOrd="3" destOrd="0" parTransId="{BCD42660-DCBE-4668-9948-0856149165B6}" sibTransId="{AB21F873-0002-4D76-836A-A30A503D8893}"/>
    <dgm:cxn modelId="{CCF414D3-7431-4E0F-8087-ED6CCC481C62}" srcId="{ACC0B095-383A-4DB9-88EF-5EC60216E4AE}" destId="{76219717-8D3F-4034-89D6-4976ACE99C6E}" srcOrd="1" destOrd="0" parTransId="{12499389-C85E-453E-B0AA-01E16EF353E3}" sibTransId="{7523C15A-F55B-4DF0-BD03-F1E3F162DA48}"/>
    <dgm:cxn modelId="{9B4B80D8-A69D-43EA-B5BE-8AB7015304F5}" srcId="{ACC0B095-383A-4DB9-88EF-5EC60216E4AE}" destId="{43E75CE4-26FD-4B4D-AD3C-64C59339C772}" srcOrd="4" destOrd="0" parTransId="{A61D73F4-1054-4AAE-9371-025ED8CE7093}" sibTransId="{85BFC850-9D09-497B-981D-7AB597BD0B50}"/>
    <dgm:cxn modelId="{4070F5E5-C52E-46BC-8B95-C4542E24C5CD}" type="presOf" srcId="{EE053C43-F7F9-4A62-B238-D782A97909B0}" destId="{192D5350-DDD6-4B3E-92A2-CBB89606DF68}" srcOrd="0" destOrd="0" presId="urn:microsoft.com/office/officeart/2018/5/layout/IconCircleLabelList"/>
    <dgm:cxn modelId="{B617BEEE-896D-4566-ADBE-F9702A61CC1E}" srcId="{ACC0B095-383A-4DB9-88EF-5EC60216E4AE}" destId="{EE053C43-F7F9-4A62-B238-D782A97909B0}" srcOrd="0" destOrd="0" parTransId="{645DA96C-2244-401D-8C52-2AB07DC802A2}" sibTransId="{3087A210-DB0B-4489-A1DF-AF9008E3D740}"/>
    <dgm:cxn modelId="{038A16B6-6B94-4B95-AE2D-FEC220F62B34}" type="presParOf" srcId="{87B57B19-49F6-44B1-8686-F90A9564EF9A}" destId="{13BF95F8-B2AC-4106-A035-A8A12A1CD86C}" srcOrd="0" destOrd="0" presId="urn:microsoft.com/office/officeart/2018/5/layout/IconCircleLabelList"/>
    <dgm:cxn modelId="{2063DDF4-03A5-4108-B5A8-7EDF341B5363}" type="presParOf" srcId="{13BF95F8-B2AC-4106-A035-A8A12A1CD86C}" destId="{F36C116B-70FB-40AD-93A2-957852081AD1}" srcOrd="0" destOrd="0" presId="urn:microsoft.com/office/officeart/2018/5/layout/IconCircleLabelList"/>
    <dgm:cxn modelId="{0CBE7BBF-D424-495F-88EF-4C62572DCC36}" type="presParOf" srcId="{13BF95F8-B2AC-4106-A035-A8A12A1CD86C}" destId="{13D006E9-FF18-4145-AA47-0C8B25871018}" srcOrd="1" destOrd="0" presId="urn:microsoft.com/office/officeart/2018/5/layout/IconCircleLabelList"/>
    <dgm:cxn modelId="{3B4CBC75-877A-4C92-9F77-F9AEE0BC5437}" type="presParOf" srcId="{13BF95F8-B2AC-4106-A035-A8A12A1CD86C}" destId="{DC3EA022-A23F-4DF0-BCAD-CAE94FAC7380}" srcOrd="2" destOrd="0" presId="urn:microsoft.com/office/officeart/2018/5/layout/IconCircleLabelList"/>
    <dgm:cxn modelId="{021F9A5D-3B76-4F7D-8C2C-6D397557A01C}" type="presParOf" srcId="{13BF95F8-B2AC-4106-A035-A8A12A1CD86C}" destId="{192D5350-DDD6-4B3E-92A2-CBB89606DF68}" srcOrd="3" destOrd="0" presId="urn:microsoft.com/office/officeart/2018/5/layout/IconCircleLabelList"/>
    <dgm:cxn modelId="{89DE6DC7-8BFC-437E-BAF1-424D7B17E4A5}" type="presParOf" srcId="{87B57B19-49F6-44B1-8686-F90A9564EF9A}" destId="{D5B9BBA8-F352-40A8-A993-1625BAEA5E76}" srcOrd="1" destOrd="0" presId="urn:microsoft.com/office/officeart/2018/5/layout/IconCircleLabelList"/>
    <dgm:cxn modelId="{8F0C6362-531C-42D4-AB77-15A27F9EB178}" type="presParOf" srcId="{87B57B19-49F6-44B1-8686-F90A9564EF9A}" destId="{991E4C53-2BB7-4345-90E0-B0259D8529BE}" srcOrd="2" destOrd="0" presId="urn:microsoft.com/office/officeart/2018/5/layout/IconCircleLabelList"/>
    <dgm:cxn modelId="{9143583E-0533-489C-9C4B-9C8A0A943F04}" type="presParOf" srcId="{991E4C53-2BB7-4345-90E0-B0259D8529BE}" destId="{FD2681AE-2AB2-4089-B874-0F806ADE02DC}" srcOrd="0" destOrd="0" presId="urn:microsoft.com/office/officeart/2018/5/layout/IconCircleLabelList"/>
    <dgm:cxn modelId="{525DBEE4-5AF0-4A64-85D1-C15687322AFC}" type="presParOf" srcId="{991E4C53-2BB7-4345-90E0-B0259D8529BE}" destId="{9B65E5D7-0A78-4537-A416-47957C9DB2D3}" srcOrd="1" destOrd="0" presId="urn:microsoft.com/office/officeart/2018/5/layout/IconCircleLabelList"/>
    <dgm:cxn modelId="{F27B44EF-437E-44BD-8800-17D1B18E050B}" type="presParOf" srcId="{991E4C53-2BB7-4345-90E0-B0259D8529BE}" destId="{65337795-A296-449C-97EC-E8592B494B36}" srcOrd="2" destOrd="0" presId="urn:microsoft.com/office/officeart/2018/5/layout/IconCircleLabelList"/>
    <dgm:cxn modelId="{72577052-D184-47B1-846C-560A4A9D6ABB}" type="presParOf" srcId="{991E4C53-2BB7-4345-90E0-B0259D8529BE}" destId="{774BDEC9-177A-47DE-8B37-A03EF8E5959C}" srcOrd="3" destOrd="0" presId="urn:microsoft.com/office/officeart/2018/5/layout/IconCircleLabelList"/>
    <dgm:cxn modelId="{C52D2BD0-EDAC-4E8D-A3DA-DB66A4C462B8}" type="presParOf" srcId="{87B57B19-49F6-44B1-8686-F90A9564EF9A}" destId="{08F8C480-9D03-4D9A-9213-6C34C21A817B}" srcOrd="3" destOrd="0" presId="urn:microsoft.com/office/officeart/2018/5/layout/IconCircleLabelList"/>
    <dgm:cxn modelId="{F39DDEAD-DE1A-44AF-B176-FDF621621ADC}" type="presParOf" srcId="{87B57B19-49F6-44B1-8686-F90A9564EF9A}" destId="{6DBE02F5-568A-426B-851C-C25CB1755002}" srcOrd="4" destOrd="0" presId="urn:microsoft.com/office/officeart/2018/5/layout/IconCircleLabelList"/>
    <dgm:cxn modelId="{46BCB171-78B6-4BC2-9E02-012C6039E32C}" type="presParOf" srcId="{6DBE02F5-568A-426B-851C-C25CB1755002}" destId="{3B1CC29D-96FF-4CCD-A52B-E85C6FCEAA73}" srcOrd="0" destOrd="0" presId="urn:microsoft.com/office/officeart/2018/5/layout/IconCircleLabelList"/>
    <dgm:cxn modelId="{B4EED891-8550-4E6F-9C99-B6200FA4EA8F}" type="presParOf" srcId="{6DBE02F5-568A-426B-851C-C25CB1755002}" destId="{53E82E18-C347-43AF-9BC9-498A56D924EB}" srcOrd="1" destOrd="0" presId="urn:microsoft.com/office/officeart/2018/5/layout/IconCircleLabelList"/>
    <dgm:cxn modelId="{08BF266C-4A38-4D4B-9415-E8125417519A}" type="presParOf" srcId="{6DBE02F5-568A-426B-851C-C25CB1755002}" destId="{37795F23-C32C-40CF-816E-AAD6EC79AE9B}" srcOrd="2" destOrd="0" presId="urn:microsoft.com/office/officeart/2018/5/layout/IconCircleLabelList"/>
    <dgm:cxn modelId="{CE75A716-5123-4949-A066-B415B8670143}" type="presParOf" srcId="{6DBE02F5-568A-426B-851C-C25CB1755002}" destId="{5FCAEEAD-03FC-4A66-8A68-5FA395F35B5B}" srcOrd="3" destOrd="0" presId="urn:microsoft.com/office/officeart/2018/5/layout/IconCircleLabelList"/>
    <dgm:cxn modelId="{2A82D8BA-D675-43F8-B850-BCD9449CFB47}" type="presParOf" srcId="{87B57B19-49F6-44B1-8686-F90A9564EF9A}" destId="{AD4B833F-6C8D-4FED-B297-A83A3DF88963}" srcOrd="5" destOrd="0" presId="urn:microsoft.com/office/officeart/2018/5/layout/IconCircleLabelList"/>
    <dgm:cxn modelId="{97C00C80-021D-4481-B509-8D1E820C0C62}" type="presParOf" srcId="{87B57B19-49F6-44B1-8686-F90A9564EF9A}" destId="{AA2040C7-2372-4B45-B13C-6D5D0860F4CC}" srcOrd="6" destOrd="0" presId="urn:microsoft.com/office/officeart/2018/5/layout/IconCircleLabelList"/>
    <dgm:cxn modelId="{8AAD2E2A-CA87-4144-A580-FE07B0B97F80}" type="presParOf" srcId="{AA2040C7-2372-4B45-B13C-6D5D0860F4CC}" destId="{A1A74B2A-7D78-47F4-A16F-107571CEE964}" srcOrd="0" destOrd="0" presId="urn:microsoft.com/office/officeart/2018/5/layout/IconCircleLabelList"/>
    <dgm:cxn modelId="{12278DB3-2813-4028-839C-B1D0727248CB}" type="presParOf" srcId="{AA2040C7-2372-4B45-B13C-6D5D0860F4CC}" destId="{89E9366D-727C-4CAD-BD7A-92646C9D6AE3}" srcOrd="1" destOrd="0" presId="urn:microsoft.com/office/officeart/2018/5/layout/IconCircleLabelList"/>
    <dgm:cxn modelId="{2B525F75-C21B-45D2-8573-238F5FA2F00C}" type="presParOf" srcId="{AA2040C7-2372-4B45-B13C-6D5D0860F4CC}" destId="{102FD83B-C394-43B6-92A8-AA9E2EFB4891}" srcOrd="2" destOrd="0" presId="urn:microsoft.com/office/officeart/2018/5/layout/IconCircleLabelList"/>
    <dgm:cxn modelId="{8C942372-569F-49FF-A51D-C4865BAF3594}" type="presParOf" srcId="{AA2040C7-2372-4B45-B13C-6D5D0860F4CC}" destId="{0CEDD938-7BA6-4A6A-82C1-ED9D7C3AB7E8}" srcOrd="3" destOrd="0" presId="urn:microsoft.com/office/officeart/2018/5/layout/IconCircleLabelList"/>
    <dgm:cxn modelId="{3C4FC90D-9F3B-4037-B83D-D831F0052B9D}" type="presParOf" srcId="{87B57B19-49F6-44B1-8686-F90A9564EF9A}" destId="{C17E2BAF-4DEE-485E-8356-EBA037DC28FC}" srcOrd="7" destOrd="0" presId="urn:microsoft.com/office/officeart/2018/5/layout/IconCircleLabelList"/>
    <dgm:cxn modelId="{22B25F00-1E18-4DDA-97DE-F80F2615AD85}" type="presParOf" srcId="{87B57B19-49F6-44B1-8686-F90A9564EF9A}" destId="{83E138F9-FEE7-41D8-8598-BD11880E554C}" srcOrd="8" destOrd="0" presId="urn:microsoft.com/office/officeart/2018/5/layout/IconCircleLabelList"/>
    <dgm:cxn modelId="{20E4AACA-17FB-4FCD-A678-D1EA3B2BCA4A}" type="presParOf" srcId="{83E138F9-FEE7-41D8-8598-BD11880E554C}" destId="{D3886830-2F24-4C0C-AC46-22BF4F6DB2F6}" srcOrd="0" destOrd="0" presId="urn:microsoft.com/office/officeart/2018/5/layout/IconCircleLabelList"/>
    <dgm:cxn modelId="{225F1F9A-6852-4C7B-A5F0-3CDFE3BB7CCB}" type="presParOf" srcId="{83E138F9-FEE7-41D8-8598-BD11880E554C}" destId="{43600A5E-42B2-402D-BDCE-86AC5EB66BD6}" srcOrd="1" destOrd="0" presId="urn:microsoft.com/office/officeart/2018/5/layout/IconCircleLabelList"/>
    <dgm:cxn modelId="{99102056-A7EE-444D-BF2D-5E5BA6436281}" type="presParOf" srcId="{83E138F9-FEE7-41D8-8598-BD11880E554C}" destId="{18E04F48-D7FF-470E-93AA-94D601D65BF1}" srcOrd="2" destOrd="0" presId="urn:microsoft.com/office/officeart/2018/5/layout/IconCircleLabelList"/>
    <dgm:cxn modelId="{4717082C-D306-49A6-A639-42AC56A873C7}" type="presParOf" srcId="{83E138F9-FEE7-41D8-8598-BD11880E554C}" destId="{303D0C42-8D06-4B84-86EB-E7DC42B804C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C116B-70FB-40AD-93A2-957852081AD1}">
      <dsp:nvSpPr>
        <dsp:cNvPr id="0" name=""/>
        <dsp:cNvSpPr/>
      </dsp:nvSpPr>
      <dsp:spPr>
        <a:xfrm>
          <a:off x="267322" y="662783"/>
          <a:ext cx="828861" cy="8288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006E9-FF18-4145-AA47-0C8B25871018}">
      <dsp:nvSpPr>
        <dsp:cNvPr id="0" name=""/>
        <dsp:cNvSpPr/>
      </dsp:nvSpPr>
      <dsp:spPr>
        <a:xfrm>
          <a:off x="443964" y="839426"/>
          <a:ext cx="475576" cy="475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D5350-DDD6-4B3E-92A2-CBB89606DF68}">
      <dsp:nvSpPr>
        <dsp:cNvPr id="0" name=""/>
        <dsp:cNvSpPr/>
      </dsp:nvSpPr>
      <dsp:spPr>
        <a:xfrm>
          <a:off x="2358" y="1749814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Frontend</a:t>
          </a:r>
          <a:r>
            <a:rPr lang="en-US" sz="1100" kern="1200"/>
            <a:t>: Vite, React, TypeScript</a:t>
          </a:r>
        </a:p>
      </dsp:txBody>
      <dsp:txXfrm>
        <a:off x="2358" y="1749814"/>
        <a:ext cx="1358789" cy="543515"/>
      </dsp:txXfrm>
    </dsp:sp>
    <dsp:sp modelId="{FD2681AE-2AB2-4089-B874-0F806ADE02DC}">
      <dsp:nvSpPr>
        <dsp:cNvPr id="0" name=""/>
        <dsp:cNvSpPr/>
      </dsp:nvSpPr>
      <dsp:spPr>
        <a:xfrm>
          <a:off x="1863899" y="662783"/>
          <a:ext cx="828861" cy="8288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5E5D7-0A78-4537-A416-47957C9DB2D3}">
      <dsp:nvSpPr>
        <dsp:cNvPr id="0" name=""/>
        <dsp:cNvSpPr/>
      </dsp:nvSpPr>
      <dsp:spPr>
        <a:xfrm>
          <a:off x="2040541" y="839426"/>
          <a:ext cx="475576" cy="475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BDEC9-177A-47DE-8B37-A03EF8E5959C}">
      <dsp:nvSpPr>
        <dsp:cNvPr id="0" name=""/>
        <dsp:cNvSpPr/>
      </dsp:nvSpPr>
      <dsp:spPr>
        <a:xfrm>
          <a:off x="1598935" y="1749814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Backend</a:t>
          </a:r>
          <a:r>
            <a:rPr lang="en-US" sz="1100" kern="1200"/>
            <a:t>: APIs, LLM integration</a:t>
          </a:r>
        </a:p>
      </dsp:txBody>
      <dsp:txXfrm>
        <a:off x="1598935" y="1749814"/>
        <a:ext cx="1358789" cy="543515"/>
      </dsp:txXfrm>
    </dsp:sp>
    <dsp:sp modelId="{3B1CC29D-96FF-4CCD-A52B-E85C6FCEAA73}">
      <dsp:nvSpPr>
        <dsp:cNvPr id="0" name=""/>
        <dsp:cNvSpPr/>
      </dsp:nvSpPr>
      <dsp:spPr>
        <a:xfrm>
          <a:off x="3460476" y="662783"/>
          <a:ext cx="828861" cy="8288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E82E18-C347-43AF-9BC9-498A56D924EB}">
      <dsp:nvSpPr>
        <dsp:cNvPr id="0" name=""/>
        <dsp:cNvSpPr/>
      </dsp:nvSpPr>
      <dsp:spPr>
        <a:xfrm>
          <a:off x="3637118" y="839426"/>
          <a:ext cx="475576" cy="475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AEEAD-03FC-4A66-8A68-5FA395F35B5B}">
      <dsp:nvSpPr>
        <dsp:cNvPr id="0" name=""/>
        <dsp:cNvSpPr/>
      </dsp:nvSpPr>
      <dsp:spPr>
        <a:xfrm>
          <a:off x="3195512" y="1749814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AI/ML</a:t>
          </a:r>
          <a:r>
            <a:rPr lang="en-US" sz="1100" kern="1200"/>
            <a:t>: Advanced AI models for crop analysis</a:t>
          </a:r>
        </a:p>
      </dsp:txBody>
      <dsp:txXfrm>
        <a:off x="3195512" y="1749814"/>
        <a:ext cx="1358789" cy="543515"/>
      </dsp:txXfrm>
    </dsp:sp>
    <dsp:sp modelId="{A1A74B2A-7D78-47F4-A16F-107571CEE964}">
      <dsp:nvSpPr>
        <dsp:cNvPr id="0" name=""/>
        <dsp:cNvSpPr/>
      </dsp:nvSpPr>
      <dsp:spPr>
        <a:xfrm>
          <a:off x="5057053" y="662783"/>
          <a:ext cx="828861" cy="8288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9366D-727C-4CAD-BD7A-92646C9D6AE3}">
      <dsp:nvSpPr>
        <dsp:cNvPr id="0" name=""/>
        <dsp:cNvSpPr/>
      </dsp:nvSpPr>
      <dsp:spPr>
        <a:xfrm>
          <a:off x="5233696" y="839426"/>
          <a:ext cx="475576" cy="475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DD938-7BA6-4A6A-82C1-ED9D7C3AB7E8}">
      <dsp:nvSpPr>
        <dsp:cNvPr id="0" name=""/>
        <dsp:cNvSpPr/>
      </dsp:nvSpPr>
      <dsp:spPr>
        <a:xfrm>
          <a:off x="4792089" y="1749814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User Interaction</a:t>
          </a:r>
          <a:r>
            <a:rPr lang="en-US" sz="1100" kern="1200"/>
            <a:t>: Voice assistant, chatbot</a:t>
          </a:r>
        </a:p>
      </dsp:txBody>
      <dsp:txXfrm>
        <a:off x="4792089" y="1749814"/>
        <a:ext cx="1358789" cy="543515"/>
      </dsp:txXfrm>
    </dsp:sp>
    <dsp:sp modelId="{D3886830-2F24-4C0C-AC46-22BF4F6DB2F6}">
      <dsp:nvSpPr>
        <dsp:cNvPr id="0" name=""/>
        <dsp:cNvSpPr/>
      </dsp:nvSpPr>
      <dsp:spPr>
        <a:xfrm>
          <a:off x="6653630" y="662783"/>
          <a:ext cx="828861" cy="8288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00A5E-42B2-402D-BDCE-86AC5EB66BD6}">
      <dsp:nvSpPr>
        <dsp:cNvPr id="0" name=""/>
        <dsp:cNvSpPr/>
      </dsp:nvSpPr>
      <dsp:spPr>
        <a:xfrm>
          <a:off x="6830273" y="839426"/>
          <a:ext cx="475576" cy="475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D0C42-8D06-4B84-86EB-E7DC42B804C6}">
      <dsp:nvSpPr>
        <dsp:cNvPr id="0" name=""/>
        <dsp:cNvSpPr/>
      </dsp:nvSpPr>
      <dsp:spPr>
        <a:xfrm>
          <a:off x="6388666" y="1749814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Data Handling</a:t>
          </a:r>
          <a:r>
            <a:rPr lang="en-US" sz="1100" kern="1200"/>
            <a:t>: Real-time data integration for insights</a:t>
          </a:r>
        </a:p>
      </dsp:txBody>
      <dsp:txXfrm>
        <a:off x="6388666" y="1749814"/>
        <a:ext cx="1358789" cy="543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7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56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0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38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7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8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07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2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8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9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7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622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8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B0F1BB-9CE3-5A44-AF39-56D96BA1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4529" y="4915430"/>
            <a:ext cx="1373567" cy="194257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381460-CB75-6044-A945-30251B1AE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4529" y="6291072"/>
            <a:ext cx="2770698" cy="566928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16612" y="1688297"/>
            <a:ext cx="7304898" cy="2862635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/>
                <a:cs typeface="Times New Roman"/>
              </a:rPr>
              <a:t>AI POWERED CROP DISEASE AND PESTS DETECTION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4822" y="4382698"/>
            <a:ext cx="6115110" cy="170441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/>
                <a:cs typeface="Times New Roman"/>
              </a:rPr>
              <a:t>Presenter’s Name:</a:t>
            </a:r>
            <a:endParaRPr lang="en-US" dirty="0">
              <a:latin typeface="Neue Haas Grotesk Text Pro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900" dirty="0">
                <a:latin typeface="Times New Roman"/>
                <a:cs typeface="Times New Roman"/>
              </a:rPr>
              <a:t>V.PHANINDRA(227Z1A66C7)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sz="1900" dirty="0">
                <a:latin typeface="Times New Roman"/>
                <a:cs typeface="Times New Roman"/>
              </a:rPr>
              <a:t>N.VARSHINI(227Z1A6693)</a:t>
            </a:r>
          </a:p>
          <a:p>
            <a:pPr>
              <a:lnSpc>
                <a:spcPct val="100000"/>
              </a:lnSpc>
            </a:pPr>
            <a:r>
              <a:rPr lang="en-US" sz="1900" dirty="0">
                <a:latin typeface="Times New Roman"/>
                <a:cs typeface="Times New Roman"/>
              </a:rPr>
              <a:t>N.SAIAKHIL(227Z1A6694)</a:t>
            </a:r>
          </a:p>
        </p:txBody>
      </p:sp>
      <p:pic>
        <p:nvPicPr>
          <p:cNvPr id="6" name="Picture 5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4244CB03-5498-7263-1843-DC07D1F51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3" y="1687194"/>
            <a:ext cx="2140552" cy="657883"/>
          </a:xfrm>
          <a:prstGeom prst="rect">
            <a:avLst/>
          </a:prstGeom>
        </p:spPr>
      </p:pic>
      <p:pic>
        <p:nvPicPr>
          <p:cNvPr id="5" name="Picture 4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6A0A386B-7D0F-2EFD-23D5-6CF8F1C68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115" y="1698416"/>
            <a:ext cx="2087077" cy="677333"/>
          </a:xfrm>
          <a:prstGeom prst="rect">
            <a:avLst/>
          </a:prstGeom>
        </p:spPr>
      </p:pic>
      <p:pic>
        <p:nvPicPr>
          <p:cNvPr id="7" name="Picture 6" descr="nnrg header logo">
            <a:extLst>
              <a:ext uri="{FF2B5EF4-FFF2-40B4-BE49-F238E27FC236}">
                <a16:creationId xmlns:a16="http://schemas.microsoft.com/office/drawing/2014/main" id="{CA0FCBFB-45D1-7E48-1D91-E2C2289F3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136" y="278106"/>
            <a:ext cx="11619832" cy="820732"/>
          </a:xfrm>
          <a:prstGeom prst="rect">
            <a:avLst/>
          </a:prstGeom>
        </p:spPr>
      </p:pic>
      <p:pic>
        <p:nvPicPr>
          <p:cNvPr id="8" name="Picture 7" descr="Image result for crop disease detection using image processing">
            <a:extLst>
              <a:ext uri="{FF2B5EF4-FFF2-40B4-BE49-F238E27FC236}">
                <a16:creationId xmlns:a16="http://schemas.microsoft.com/office/drawing/2014/main" id="{97F27294-290C-042A-A320-3138129EE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13" y="2527718"/>
            <a:ext cx="3370513" cy="228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B1FFC-732F-9145-51C1-270849BE8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455362"/>
            <a:ext cx="6881728" cy="1550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latin typeface="Times New Roman"/>
                <a:cs typeface="Times New Roman"/>
              </a:rPr>
              <a:t>Problem Statement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F5A46-01E7-C8AB-C36E-EF6D92BBA2E8}"/>
              </a:ext>
            </a:extLst>
          </p:cNvPr>
          <p:cNvSpPr txBox="1"/>
          <p:nvPr/>
        </p:nvSpPr>
        <p:spPr>
          <a:xfrm>
            <a:off x="3678" y="1718859"/>
            <a:ext cx="7892762" cy="361619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342900" indent="-285750" algn="jus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Font typeface="Wingdings" panose="020B0604020202020204" pitchFamily="34" charset="0"/>
              <a:buChar char="Ø"/>
            </a:pPr>
            <a:r>
              <a:rPr lang="en-US" dirty="0">
                <a:latin typeface="Times New Roman"/>
                <a:cs typeface="Times New Roman"/>
              </a:rPr>
              <a:t>Small farmers face significant challenges in identifying and managing crop diseases and pests due to limited access to expert advice and resources.</a:t>
            </a:r>
            <a:endParaRPr lang="en-US"/>
          </a:p>
          <a:p>
            <a:pPr marL="342900" indent="-285750" algn="jus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Font typeface="Wingdings" panose="020B0604020202020204" pitchFamily="34" charset="0"/>
              <a:buChar char="Ø"/>
            </a:pPr>
            <a:r>
              <a:rPr lang="en-US" dirty="0">
                <a:latin typeface="Times New Roman"/>
                <a:cs typeface="Times New Roman"/>
              </a:rPr>
              <a:t>Conventional methods for pest and disease control often lack accuracy, personalization, and real-time updates, leading to reduced crop yields.</a:t>
            </a:r>
          </a:p>
          <a:p>
            <a:pPr marL="342900" indent="-285750" algn="jus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Font typeface="Wingdings" panose="020B0604020202020204" pitchFamily="34" charset="0"/>
              <a:buChar char="Ø"/>
            </a:pPr>
            <a:r>
              <a:rPr lang="en-US" dirty="0">
                <a:latin typeface="Times New Roman"/>
                <a:cs typeface="Times New Roman"/>
              </a:rPr>
              <a:t>Many existing solutions are either too expensive, complex, or inaccessible to farmers with limited technical expertise.</a:t>
            </a:r>
          </a:p>
          <a:p>
            <a:pPr marL="342900" indent="-285750" algn="jus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Font typeface="Wingdings" panose="020B0604020202020204" pitchFamily="34" charset="0"/>
              <a:buChar char="Ø"/>
            </a:pPr>
            <a:r>
              <a:rPr lang="en-US" dirty="0">
                <a:latin typeface="Times New Roman"/>
                <a:cs typeface="Times New Roman"/>
              </a:rPr>
              <a:t>The need for a seamless, AI-powered platform that delivers accurate, real-time, and easy-to-understand crop health insights remains unaddressed.</a:t>
            </a:r>
          </a:p>
          <a:p>
            <a:pPr marL="57150" indent="-28575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Font typeface="Wingdings" panose="020B0604020202020204" pitchFamily="34" charset="0"/>
              <a:buChar char="Ø"/>
            </a:pPr>
            <a:endParaRPr lang="en-US"/>
          </a:p>
        </p:txBody>
      </p:sp>
      <p:pic>
        <p:nvPicPr>
          <p:cNvPr id="4" name="Content Placeholder 3" descr="Image result for crop disease detection using AI give ai generated images">
            <a:extLst>
              <a:ext uri="{FF2B5EF4-FFF2-40B4-BE49-F238E27FC236}">
                <a16:creationId xmlns:a16="http://schemas.microsoft.com/office/drawing/2014/main" id="{40E6C6E5-EDAA-C496-8F40-4B5749E0D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788" r="25262" b="1"/>
          <a:stretch/>
        </p:blipFill>
        <p:spPr>
          <a:xfrm>
            <a:off x="8018632" y="10"/>
            <a:ext cx="4173368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8632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8632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CAD67164-09B6-C24F-6B5B-B87E19F64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591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E387-57A8-74AA-3405-8B25054A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5BA8B-B869-409F-725E-3E5CACD94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49" y="1427699"/>
            <a:ext cx="8137414" cy="39067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Leverages advanced AI to analyze plant images, soil data, and weather patterns, identifying crop diseases and pests with high precision.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Provides personalized, actionable advice on pest and disease management using natural, organic, or conventional methods.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Offers accurate, up-to-date data insights for smarter decision-making, empowering farmers to act proactively.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Intuitive interface, voice assistant, and chatbot make the platform accessible and easy to use for farmers of all technical levels.</a:t>
            </a:r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5" name="Picture 4" descr="AI and IoT in Agriculture ...">
            <a:extLst>
              <a:ext uri="{FF2B5EF4-FFF2-40B4-BE49-F238E27FC236}">
                <a16:creationId xmlns:a16="http://schemas.microsoft.com/office/drawing/2014/main" id="{817A2909-2F3A-3EC0-9287-0976F57CD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221" y="1598791"/>
            <a:ext cx="3477127" cy="2936421"/>
          </a:xfrm>
          <a:prstGeom prst="rect">
            <a:avLst/>
          </a:prstGeom>
        </p:spPr>
      </p:pic>
      <p:pic>
        <p:nvPicPr>
          <p:cNvPr id="6" name="Picture 5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F7A37863-147E-45F1-F6A0-5E2CF9F98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115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22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AEE2-35C6-123F-3EBB-9B03B06D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377" y="660981"/>
            <a:ext cx="9486690" cy="1550419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/>
                <a:cs typeface="Times New Roman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3BAB9-2497-EEF8-BC7C-8FCB0C35C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77" y="1869730"/>
            <a:ext cx="7211576" cy="27504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AI-powered detection of crop diseases and pests.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Personalized pest and disease control methods.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Real-time data insights for smarter decisions.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Voice assistant and chatbot for easy interaction.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User-friendly interface for farmers of all skill levels.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Weather Analytics: Historical Data And ...">
            <a:extLst>
              <a:ext uri="{FF2B5EF4-FFF2-40B4-BE49-F238E27FC236}">
                <a16:creationId xmlns:a16="http://schemas.microsoft.com/office/drawing/2014/main" id="{DDBDD0B9-1C32-D522-40DC-9EA8D95E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804" y="1439561"/>
            <a:ext cx="4171345" cy="3603927"/>
          </a:xfrm>
          <a:prstGeom prst="rect">
            <a:avLst/>
          </a:prstGeom>
        </p:spPr>
      </p:pic>
      <p:pic>
        <p:nvPicPr>
          <p:cNvPr id="6" name="Picture 5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E3D04F0E-F4F4-594B-B5E7-371E8F687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591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1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FCC0-A724-7461-6B66-53CE7F70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110" y="509791"/>
            <a:ext cx="5687576" cy="984362"/>
          </a:xfrm>
        </p:spPr>
        <p:txBody>
          <a:bodyPr/>
          <a:lstStyle/>
          <a:p>
            <a:r>
              <a:rPr lang="en-US" b="0" dirty="0">
                <a:latin typeface="Times New Roman"/>
                <a:ea typeface="+mj-lt"/>
                <a:cs typeface="+mj-lt"/>
              </a:rPr>
              <a:t>Technology Stack</a:t>
            </a:r>
            <a:endParaRPr lang="en-US" dirty="0">
              <a:latin typeface="Times New Roman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EF337F2-00C4-F4F1-7710-C33643F0D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0730802"/>
              </p:ext>
            </p:extLst>
          </p:nvPr>
        </p:nvGraphicFramePr>
        <p:xfrm>
          <a:off x="618881" y="1948349"/>
          <a:ext cx="7749814" cy="2956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Generative AI and Agriculture: A New ...">
            <a:extLst>
              <a:ext uri="{FF2B5EF4-FFF2-40B4-BE49-F238E27FC236}">
                <a16:creationId xmlns:a16="http://schemas.microsoft.com/office/drawing/2014/main" id="{D51756A7-C44C-C2EE-26D0-06526C4A50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5329" y="1680709"/>
            <a:ext cx="3462866" cy="3399820"/>
          </a:xfrm>
          <a:prstGeom prst="rect">
            <a:avLst/>
          </a:prstGeom>
        </p:spPr>
      </p:pic>
      <p:pic>
        <p:nvPicPr>
          <p:cNvPr id="22" name="Picture 21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EC55DF29-0432-C321-6FE8-A02C17BD16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7591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8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0D0-DA1A-41DC-A7D7-813437879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253" y="324733"/>
            <a:ext cx="7176500" cy="848896"/>
          </a:xfrm>
        </p:spPr>
        <p:txBody>
          <a:bodyPr>
            <a:normAutofit/>
          </a:bodyPr>
          <a:lstStyle/>
          <a:p>
            <a:r>
              <a:rPr lang="en-US" sz="4800" b="0" dirty="0">
                <a:latin typeface="Times New Roman"/>
                <a:ea typeface="+mj-lt"/>
                <a:cs typeface="+mj-lt"/>
              </a:rPr>
              <a:t>System Architecture</a:t>
            </a:r>
            <a:endParaRPr lang="en-US" sz="4800" dirty="0">
              <a:latin typeface="Times New Roman"/>
            </a:endParaRPr>
          </a:p>
        </p:txBody>
      </p:sp>
      <p:pic>
        <p:nvPicPr>
          <p:cNvPr id="4" name="Content Placeholder 3" descr="A diagram of a farm&#10;&#10;AI-generated content may be incorrect.">
            <a:extLst>
              <a:ext uri="{FF2B5EF4-FFF2-40B4-BE49-F238E27FC236}">
                <a16:creationId xmlns:a16="http://schemas.microsoft.com/office/drawing/2014/main" id="{3ED2DE78-A64C-91AE-308E-AB5FAAA16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929" y="1169414"/>
            <a:ext cx="9875222" cy="5395723"/>
          </a:xfrm>
        </p:spPr>
      </p:pic>
      <p:pic>
        <p:nvPicPr>
          <p:cNvPr id="6" name="Picture 5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B02667E6-D208-4125-0B08-A36627F6E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401" y="65559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95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34E7-3310-EC25-82A8-4CFBEC3C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110" y="836361"/>
            <a:ext cx="7331319" cy="88639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Benefits:</a:t>
            </a:r>
            <a:endParaRPr lang="en-US" b="0" dirty="0">
              <a:latin typeface="Neue Haas Grotesk Text Pro"/>
              <a:cs typeface="Times New Roman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C009D-397C-F0ED-7F0A-738629B7A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110" y="1931416"/>
            <a:ext cx="9486690" cy="3000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Early detection of crop diseases and pests.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Personalized and actionable farming solutions.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Improved crop yield through informed decision-making.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Accessible platform for farmers of all technical levels.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Time and cost savings with real-time insights.</a:t>
            </a:r>
            <a:endParaRPr lang="en-US" dirty="0">
              <a:latin typeface="Times New Roman"/>
            </a:endParaRPr>
          </a:p>
          <a:p>
            <a:endParaRPr lang="en-US" dirty="0"/>
          </a:p>
        </p:txBody>
      </p:sp>
      <p:pic>
        <p:nvPicPr>
          <p:cNvPr id="5" name="Picture 4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EEC94708-48CA-A038-F506-EA6A899B1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591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356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AFDB-CE23-AAF4-64B2-60489491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596" y="455362"/>
            <a:ext cx="9856804" cy="101701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/>
                <a:cs typeface="Times New Roman"/>
              </a:rPr>
              <a:t>Monitoring Dashboard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EDE94-0BBA-C657-C9B8-0A8BA22A1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4938" y="1713702"/>
            <a:ext cx="6057690" cy="2783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Real-time crop health updates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Insights on weather and soil data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Pest and disease trend analysis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Chatbot and voice assistant integration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+mn-lt"/>
              </a:rPr>
              <a:t>Customizable reports for farmers</a:t>
            </a:r>
            <a:endParaRPr lang="en-US" dirty="0">
              <a:latin typeface="Times New Roman"/>
            </a:endParaRP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DA48EA-4801-AB82-F3E4-5A723858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047" y="1439332"/>
            <a:ext cx="5418667" cy="3543906"/>
          </a:xfrm>
          <a:prstGeom prst="rect">
            <a:avLst/>
          </a:prstGeom>
        </p:spPr>
      </p:pic>
      <p:pic>
        <p:nvPicPr>
          <p:cNvPr id="6" name="Picture 5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09B4CD13-08AB-16D9-8C81-4F8C0CBD4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305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26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2B38-5EC7-0208-78F2-B739C9FC5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127086"/>
          </a:xfrm>
        </p:spPr>
        <p:txBody>
          <a:bodyPr>
            <a:normAutofit/>
          </a:bodyPr>
          <a:lstStyle/>
          <a:p>
            <a:r>
              <a:rPr lang="en-US" b="0" dirty="0">
                <a:latin typeface="Times New Roman"/>
                <a:ea typeface="+mj-lt"/>
                <a:cs typeface="+mj-lt"/>
              </a:rPr>
              <a:t>AI Features :</a:t>
            </a:r>
            <a:endParaRPr lang="en-US" dirty="0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7A065-6015-3115-6284-1DDE657C6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805" y="1893921"/>
            <a:ext cx="9486690" cy="3926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Times New Roman"/>
                <a:ea typeface="+mn-lt"/>
                <a:cs typeface="+mn-lt"/>
              </a:rPr>
              <a:t>AI Detection</a:t>
            </a:r>
            <a:r>
              <a:rPr lang="en-US" dirty="0">
                <a:latin typeface="Times New Roman"/>
                <a:ea typeface="+mn-lt"/>
                <a:cs typeface="+mn-lt"/>
              </a:rPr>
              <a:t>: Accurate identification of crop diseases and pests from images and data.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Control Methods</a:t>
            </a:r>
            <a:r>
              <a:rPr lang="en-US" dirty="0">
                <a:latin typeface="Times New Roman"/>
                <a:ea typeface="+mn-lt"/>
                <a:cs typeface="+mn-lt"/>
              </a:rPr>
              <a:t>: Real-time advice on pest control using tailored solutions.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Data Insights</a:t>
            </a:r>
            <a:r>
              <a:rPr lang="en-US" dirty="0">
                <a:latin typeface="Times New Roman"/>
                <a:ea typeface="+mn-lt"/>
                <a:cs typeface="+mn-lt"/>
              </a:rPr>
              <a:t>: Up-to-date information for informed decision-making.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Voice &amp; Chatbot</a:t>
            </a:r>
            <a:r>
              <a:rPr lang="en-US" dirty="0">
                <a:latin typeface="Times New Roman"/>
                <a:ea typeface="+mn-lt"/>
                <a:cs typeface="+mn-lt"/>
              </a:rPr>
              <a:t>: Easy interaction through voice commands and chatbot assistance.</a:t>
            </a:r>
            <a:endParaRPr lang="en-US" dirty="0">
              <a:latin typeface="Times New Roman"/>
            </a:endParaRPr>
          </a:p>
          <a:p>
            <a:endParaRPr lang="en-US" dirty="0"/>
          </a:p>
        </p:txBody>
      </p:sp>
      <p:pic>
        <p:nvPicPr>
          <p:cNvPr id="5" name="Picture 4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FE650F3D-1ED1-1173-0398-639E3167E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591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48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991D-16E3-6F61-FC37-6F2467D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/>
                <a:cs typeface="Times New Roman"/>
              </a:rPr>
              <a:t>Impact: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1DF49-6B34-441F-8831-7357BB89C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138" y="1485101"/>
            <a:ext cx="5088861" cy="223886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cs typeface="Times New Roman"/>
              </a:rPr>
              <a:t>Environmental sustainability</a:t>
            </a:r>
            <a:endParaRPr lang="en-US" sz="2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cs typeface="Times New Roman"/>
              </a:rPr>
              <a:t>Resource conservation</a:t>
            </a:r>
            <a:endParaRPr lang="en-US" sz="2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cs typeface="Times New Roman"/>
              </a:rPr>
              <a:t>Improved crop yields</a:t>
            </a:r>
            <a:endParaRPr lang="en-US" sz="2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cs typeface="Times New Roman"/>
              </a:rPr>
              <a:t>Cost reduction</a:t>
            </a:r>
            <a:endParaRPr lang="en-US" sz="2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cs typeface="Times New Roman"/>
              </a:rPr>
              <a:t>Scalable solution</a:t>
            </a:r>
            <a:endParaRPr lang="en-US" sz="28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IN" sz="1400" dirty="0">
              <a:solidFill>
                <a:srgbClr val="212121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4" name="Picture 3" descr="Image result for crop  generated images">
            <a:extLst>
              <a:ext uri="{FF2B5EF4-FFF2-40B4-BE49-F238E27FC236}">
                <a16:creationId xmlns:a16="http://schemas.microsoft.com/office/drawing/2014/main" id="{1B08DD3F-5D6B-9219-70A6-58376B8C5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224414"/>
            <a:ext cx="5101770" cy="3477836"/>
          </a:xfrm>
          <a:prstGeom prst="rect">
            <a:avLst/>
          </a:prstGeom>
        </p:spPr>
      </p:pic>
      <p:pic>
        <p:nvPicPr>
          <p:cNvPr id="6" name="Picture 5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444C743C-36EB-D49E-C86C-F92741C84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591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07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89E18-9EE6-E63D-92B5-1F1BC7EA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15" y="663324"/>
            <a:ext cx="5094967" cy="79635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/>
                <a:cs typeface="Times New Roman"/>
              </a:rPr>
              <a:t>Future Enhancements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3F112-2385-8BF5-D21A-425CB8B19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718466"/>
            <a:ext cx="7043511" cy="321381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 b="1" dirty="0">
                <a:latin typeface="Times New Roman"/>
                <a:ea typeface="+mn-lt"/>
                <a:cs typeface="+mn-lt"/>
              </a:rPr>
              <a:t>Advanced AI Models</a:t>
            </a:r>
            <a:r>
              <a:rPr lang="en-US" sz="2000" dirty="0">
                <a:latin typeface="Times New Roman"/>
                <a:ea typeface="+mn-lt"/>
                <a:cs typeface="+mn-lt"/>
              </a:rPr>
              <a:t>: Incorporate machine learning for improved disease prediction and pest behavior analysis.</a:t>
            </a:r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 sz="2000" b="1" dirty="0">
                <a:latin typeface="Times New Roman"/>
                <a:ea typeface="+mn-lt"/>
                <a:cs typeface="+mn-lt"/>
              </a:rPr>
              <a:t>Mobile Application</a:t>
            </a:r>
            <a:r>
              <a:rPr lang="en-US" sz="2000" dirty="0">
                <a:latin typeface="Times New Roman"/>
                <a:ea typeface="+mn-lt"/>
                <a:cs typeface="+mn-lt"/>
              </a:rPr>
              <a:t>: Develop a mobile app for on-the-go access to features and alerts.</a:t>
            </a:r>
          </a:p>
          <a:p>
            <a:pPr algn="just"/>
            <a:r>
              <a:rPr lang="en-US" sz="2000" b="1" dirty="0">
                <a:latin typeface="Times New Roman"/>
                <a:ea typeface="+mn-lt"/>
                <a:cs typeface="+mn-lt"/>
              </a:rPr>
              <a:t>Community Forum</a:t>
            </a:r>
            <a:r>
              <a:rPr lang="en-US" sz="2000" dirty="0">
                <a:latin typeface="Times New Roman"/>
                <a:ea typeface="+mn-lt"/>
                <a:cs typeface="+mn-lt"/>
              </a:rPr>
              <a:t>: Create a platform for farmers to share experiences and solutions.</a:t>
            </a:r>
          </a:p>
          <a:p>
            <a:pPr algn="just"/>
            <a:r>
              <a:rPr lang="en-US" sz="2000" b="1" dirty="0">
                <a:latin typeface="Times New Roman"/>
                <a:ea typeface="+mn-lt"/>
                <a:cs typeface="+mn-lt"/>
              </a:rPr>
              <a:t>Integration with IoT Devices</a:t>
            </a:r>
            <a:r>
              <a:rPr lang="en-US" sz="2000" dirty="0">
                <a:latin typeface="Times New Roman"/>
                <a:ea typeface="+mn-lt"/>
                <a:cs typeface="+mn-lt"/>
              </a:rPr>
              <a:t>: Connect with sensors for real-time monitoring of soil and environmental conditions.</a:t>
            </a:r>
          </a:p>
          <a:p>
            <a:pPr>
              <a:lnSpc>
                <a:spcPct val="100000"/>
              </a:lnSpc>
            </a:pP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Picture 3" descr="A couple of people in a field&#10;&#10;AI-generated content may be incorrect.">
            <a:extLst>
              <a:ext uri="{FF2B5EF4-FFF2-40B4-BE49-F238E27FC236}">
                <a16:creationId xmlns:a16="http://schemas.microsoft.com/office/drawing/2014/main" id="{EF3FFC5E-B6C4-0449-B282-742ABA67F4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3" r="1" b="1"/>
          <a:stretch/>
        </p:blipFill>
        <p:spPr>
          <a:xfrm>
            <a:off x="7926224" y="1060360"/>
            <a:ext cx="3921865" cy="4034156"/>
          </a:xfrm>
          <a:prstGeom prst="rect">
            <a:avLst/>
          </a:prstGeom>
        </p:spPr>
      </p:pic>
      <p:pic>
        <p:nvPicPr>
          <p:cNvPr id="6" name="Picture 5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CF8B03F6-D2CC-C500-3356-6F90B14F1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591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37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0275-0BED-6F1A-CB4F-C5C3ABE42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24" y="624964"/>
            <a:ext cx="9467876" cy="96716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600" dirty="0">
                <a:latin typeface="Times New Roman"/>
                <a:cs typeface="Times New Roman"/>
              </a:rPr>
              <a:t>   Business Potential &amp; Future Prospects</a:t>
            </a:r>
            <a:endParaRPr lang="en-US" sz="3600" b="0">
              <a:latin typeface="Times New Roman"/>
              <a:cs typeface="Times New Roman"/>
            </a:endParaRPr>
          </a:p>
          <a:p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FA62C-1491-854A-09DA-F59C16CE2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848" y="1594363"/>
            <a:ext cx="9778721" cy="421885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latin typeface="Times New Roman"/>
                <a:ea typeface="+mn-lt"/>
                <a:cs typeface="+mn-lt"/>
              </a:rPr>
              <a:t>Scalable Model</a:t>
            </a:r>
            <a:r>
              <a:rPr lang="en-US" dirty="0">
                <a:latin typeface="Times New Roman"/>
                <a:ea typeface="+mn-lt"/>
                <a:cs typeface="+mn-lt"/>
              </a:rPr>
              <a:t>: The pole-based system can be implemented across different regions in India and beyond, benefiting small farmers.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Sustainability Focus</a:t>
            </a:r>
            <a:r>
              <a:rPr lang="en-US" dirty="0">
                <a:latin typeface="Times New Roman"/>
                <a:ea typeface="+mn-lt"/>
                <a:cs typeface="+mn-lt"/>
              </a:rPr>
              <a:t>: The system encourages sustainable farming practices, promoting organic and natural pest control methods.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Partnership Opportunities</a:t>
            </a:r>
            <a:r>
              <a:rPr lang="en-US" dirty="0">
                <a:latin typeface="Times New Roman"/>
                <a:ea typeface="+mn-lt"/>
                <a:cs typeface="+mn-lt"/>
              </a:rPr>
              <a:t>: Potential to collaborate with agricultural organizations, government bodies, and NGOs to enhance farmer outreach.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Subscription Model</a:t>
            </a:r>
            <a:r>
              <a:rPr lang="en-US" dirty="0">
                <a:latin typeface="Times New Roman"/>
                <a:ea typeface="+mn-lt"/>
                <a:cs typeface="+mn-lt"/>
              </a:rPr>
              <a:t>: A recurring revenue model through subscription services for data monitoring and expert advice.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Future Enhancements</a:t>
            </a:r>
            <a:r>
              <a:rPr lang="en-US" dirty="0">
                <a:latin typeface="Times New Roman"/>
                <a:ea typeface="+mn-lt"/>
                <a:cs typeface="+mn-lt"/>
              </a:rPr>
              <a:t>: Integration with drone technology for aerial monitoring, expansion to more crops, and predictive models for climate impacts.</a:t>
            </a:r>
            <a:endParaRPr lang="en-US" dirty="0">
              <a:latin typeface="Times New Roman"/>
            </a:endParaRPr>
          </a:p>
          <a:p>
            <a:endParaRPr lang="en-US" dirty="0"/>
          </a:p>
        </p:txBody>
      </p:sp>
      <p:pic>
        <p:nvPicPr>
          <p:cNvPr id="5" name="Picture 4" descr="A blue text on a green background&#10;&#10;AI-generated content may be incorrect.">
            <a:extLst>
              <a:ext uri="{FF2B5EF4-FFF2-40B4-BE49-F238E27FC236}">
                <a16:creationId xmlns:a16="http://schemas.microsoft.com/office/drawing/2014/main" id="{3B01CB8B-D806-1CD8-AB01-7530845C5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401" y="5083"/>
            <a:ext cx="2087077" cy="6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6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D80E22-6983-F947-8C7A-2D9E6099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FC7CB6-CC66-BA40-AFA4-7AE998055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Premium Vector | Thank you Compliment card with white background and text  spice Thank you Compliment card with white">
            <a:extLst>
              <a:ext uri="{FF2B5EF4-FFF2-40B4-BE49-F238E27FC236}">
                <a16:creationId xmlns:a16="http://schemas.microsoft.com/office/drawing/2014/main" id="{5F56DF94-395E-A07D-D1D3-70C3FC83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908"/>
          <a:stretch/>
        </p:blipFill>
        <p:spPr>
          <a:xfrm>
            <a:off x="1692627" y="565150"/>
            <a:ext cx="9934214" cy="572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80773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InterweaveVTI</vt:lpstr>
      <vt:lpstr>AI POWERED CROP DISEASE AND PESTS DETECTION</vt:lpstr>
      <vt:lpstr>Problem Statement </vt:lpstr>
      <vt:lpstr>Solution Overview</vt:lpstr>
      <vt:lpstr>Key Features</vt:lpstr>
      <vt:lpstr>Technology Stack</vt:lpstr>
      <vt:lpstr>System Architecture</vt:lpstr>
      <vt:lpstr>Benefits: </vt:lpstr>
      <vt:lpstr>Monitoring Dashboard</vt:lpstr>
      <vt:lpstr>AI Features :</vt:lpstr>
      <vt:lpstr>Impact:</vt:lpstr>
      <vt:lpstr>Future Enhancements</vt:lpstr>
      <vt:lpstr>   Business Potential &amp; Future Prospects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345</cp:revision>
  <dcterms:created xsi:type="dcterms:W3CDTF">2025-01-25T05:10:51Z</dcterms:created>
  <dcterms:modified xsi:type="dcterms:W3CDTF">2025-01-26T12:56:31Z</dcterms:modified>
</cp:coreProperties>
</file>